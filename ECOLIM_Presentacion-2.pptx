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-1097280"/>
            <a:ext cx="5943600" cy="5943600"/>
          </a:xfrm>
          <a:prstGeom prst="ellipse">
            <a:avLst/>
          </a:prstGeom>
          <a:solidFill>
            <a:srgbClr val="1B5E20">
              <a:alpha val="4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2E7D32">
              <a:alpha val="25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2560320" cy="64008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457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ECOLIM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Móvil de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Residuos Sólidos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11480" y="288036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Digitalización del proceso de recolección y registro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residuos — ECOLIM S.A.C.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2834640"/>
            <a:ext cx="3200400" cy="3657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" y="4206240"/>
            <a:ext cx="1920240" cy="384048"/>
          </a:xfrm>
          <a:prstGeom prst="rect">
            <a:avLst/>
          </a:prstGeom>
          <a:solidFill>
            <a:srgbClr val="132B16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4206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4206240"/>
            <a:ext cx="1920240" cy="384048"/>
          </a:xfrm>
          <a:prstGeom prst="rect">
            <a:avLst/>
          </a:prstGeom>
          <a:solidFill>
            <a:srgbClr val="132B16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4206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4206240"/>
            <a:ext cx="1920240" cy="384048"/>
          </a:xfrm>
          <a:prstGeom prst="rect">
            <a:avLst/>
          </a:prstGeom>
          <a:solidFill>
            <a:srgbClr val="132B16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4206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4206240"/>
            <a:ext cx="1920240" cy="384048"/>
          </a:xfrm>
          <a:prstGeom prst="rect">
            <a:avLst/>
          </a:prstGeom>
          <a:solidFill>
            <a:srgbClr val="132B16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4206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 900.058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4663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SENATI · PIAD-525 ·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F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ECOLIM S.A.C. — Gestión manual de residuos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0116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34440"/>
            <a:ext cx="2011680" cy="41148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171907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 clasificación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3317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15–30% de registros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tipo incorrecto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87168" y="1234440"/>
            <a:ext cx="20116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1234440"/>
            <a:ext cx="2011680" cy="411480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13" name="Text 11"/>
          <p:cNvSpPr/>
          <p:nvPr/>
        </p:nvSpPr>
        <p:spPr>
          <a:xfrm>
            <a:off x="2487168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⏱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78608" y="171907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Retrasos graves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78608" y="23317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horas/día 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datos manualmente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0016" y="1234440"/>
            <a:ext cx="20116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0016" y="1234440"/>
            <a:ext cx="2011680" cy="411480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18" name="Text 16"/>
          <p:cNvSpPr/>
          <p:nvPr/>
        </p:nvSpPr>
        <p:spPr>
          <a:xfrm>
            <a:off x="4700016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⚠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91456" y="171907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inexactos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91456" y="23317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Divergencia entre papel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hojas de cálculo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12864" y="1234440"/>
            <a:ext cx="20116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12864" y="1234440"/>
            <a:ext cx="2011680" cy="41148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23" name="Text 21"/>
          <p:cNvSpPr/>
          <p:nvPr/>
        </p:nvSpPr>
        <p:spPr>
          <a:xfrm>
            <a:off x="6912864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✗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04304" y="171907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04304" y="23317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rastrear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operario registró qué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Multas ambientales, pérdida de contratos y cumplimiento NTP 900.058 en riesgo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0" y="1188720"/>
            <a:ext cx="2743200" cy="100584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1887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ECOLIM APP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0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Java · SQLite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1280160"/>
            <a:ext cx="2011680" cy="1371600"/>
          </a:xfrm>
          <a:prstGeom prst="rect">
            <a:avLst/>
          </a:prstGeom>
          <a:solidFill>
            <a:srgbClr val="1A3B1E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280160"/>
            <a:ext cx="54864" cy="137160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" y="1371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Dashboard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pastel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en tiempo real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2834640"/>
            <a:ext cx="2011680" cy="1371600"/>
          </a:xfrm>
          <a:prstGeom prst="rect">
            <a:avLst/>
          </a:prstGeom>
          <a:solidFill>
            <a:srgbClr val="1A3B1E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2834640"/>
            <a:ext cx="54864" cy="137160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" y="2926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Registro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" y="3383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tipos NTP 900.058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digital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1280160"/>
            <a:ext cx="2011680" cy="1371600"/>
          </a:xfrm>
          <a:prstGeom prst="rect">
            <a:avLst/>
          </a:prstGeom>
          <a:solidFill>
            <a:srgbClr val="1A3B1E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0" y="1280160"/>
            <a:ext cx="54864" cy="137160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8" name="Text 16"/>
          <p:cNvSpPr/>
          <p:nvPr/>
        </p:nvSpPr>
        <p:spPr>
          <a:xfrm>
            <a:off x="6967728" y="1371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Historial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67728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RecyclerView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avanzados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2834640"/>
            <a:ext cx="2011680" cy="1371600"/>
          </a:xfrm>
          <a:prstGeom prst="rect">
            <a:avLst/>
          </a:prstGeom>
          <a:solidFill>
            <a:srgbClr val="1A3B1E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2834640"/>
            <a:ext cx="54864" cy="137160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2" name="Text 20"/>
          <p:cNvSpPr/>
          <p:nvPr/>
        </p:nvSpPr>
        <p:spPr>
          <a:xfrm>
            <a:off x="6967728" y="2926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Reportes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67728" y="3383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.xlsx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nativo Android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3520440"/>
            <a:ext cx="2011680" cy="1371600"/>
          </a:xfrm>
          <a:prstGeom prst="rect">
            <a:avLst/>
          </a:prstGeom>
          <a:solidFill>
            <a:srgbClr val="1A3B1E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0" y="3520440"/>
            <a:ext cx="54864" cy="137160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6" name="Text 24"/>
          <p:cNvSpPr/>
          <p:nvPr/>
        </p:nvSpPr>
        <p:spPr>
          <a:xfrm>
            <a:off x="3493008" y="3611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Configuración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93008" y="4069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· Seguridad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Biometría · PIN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1783080"/>
            <a:ext cx="1005840" cy="-91440"/>
          </a:xfrm>
          <a:prstGeom prst="line">
            <a:avLst/>
          </a:prstGeom>
          <a:noFill/>
          <a:ln w="19050">
            <a:solidFill>
              <a:srgbClr val="66BB6A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2194560" y="3337560"/>
            <a:ext cx="1005840" cy="-1143000"/>
          </a:xfrm>
          <a:prstGeom prst="line">
            <a:avLst/>
          </a:prstGeom>
          <a:noFill/>
          <a:ln w="19050">
            <a:solidFill>
              <a:srgbClr val="66BB6A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029200" y="1691640"/>
            <a:ext cx="1828800" cy="91440"/>
          </a:xfrm>
          <a:prstGeom prst="line">
            <a:avLst/>
          </a:prstGeom>
          <a:noFill/>
          <a:ln w="19050">
            <a:solidFill>
              <a:srgbClr val="66BB6A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029200" y="2194560"/>
            <a:ext cx="1828800" cy="1143000"/>
          </a:xfrm>
          <a:prstGeom prst="line">
            <a:avLst/>
          </a:prstGeom>
          <a:noFill/>
          <a:ln w="19050">
            <a:solidFill>
              <a:srgbClr val="66BB6A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F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PROYECTO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2743200" cy="420624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7" name="Text 5"/>
          <p:cNvSpPr/>
          <p:nvPr/>
        </p:nvSpPr>
        <p:spPr>
          <a:xfrm>
            <a:off x="301752" y="1143000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UI — Presentación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" y="1664208"/>
            <a:ext cx="2523744" cy="33832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664208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SplashActivity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" y="2057400"/>
            <a:ext cx="2523744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57400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LoginActivity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" y="2450592"/>
            <a:ext cx="2523744" cy="33832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450592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MainActivity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" y="2843784"/>
            <a:ext cx="2523744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843784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HomeFragment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" y="3236976"/>
            <a:ext cx="2523744" cy="33832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236976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RegistroFragment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" y="3630168"/>
            <a:ext cx="2523744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630168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HistorialFragment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" y="4023360"/>
            <a:ext cx="2523744" cy="33832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023360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ReportesFragment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" y="4416552"/>
            <a:ext cx="2523744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4416552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ConfiguracionFragment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971800" y="3017520"/>
            <a:ext cx="50292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35224" y="28346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7D32"/>
                </a:solidFill>
              </a:rPr>
              <a:t>↔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46120" y="114300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1143000"/>
            <a:ext cx="2743200" cy="420624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8" name="Text 26"/>
          <p:cNvSpPr/>
          <p:nvPr/>
        </p:nvSpPr>
        <p:spPr>
          <a:xfrm>
            <a:off x="3319272" y="1143000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LÓGICA — Negocio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55848" y="1664208"/>
            <a:ext cx="2523744" cy="33832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30" name="Text 28"/>
          <p:cNvSpPr/>
          <p:nvPr/>
        </p:nvSpPr>
        <p:spPr>
          <a:xfrm>
            <a:off x="3429000" y="1664208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BaseActivity (herencia)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55848" y="2057400"/>
            <a:ext cx="2523744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429000" y="2057400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ThemeManager (Singleton)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55848" y="2450592"/>
            <a:ext cx="2523744" cy="33832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34" name="Text 32"/>
          <p:cNvSpPr/>
          <p:nvPr/>
        </p:nvSpPr>
        <p:spPr>
          <a:xfrm>
            <a:off x="3429000" y="2450592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AppCompatDelegate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355848" y="2843784"/>
            <a:ext cx="2523744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3429000" y="2843784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SharedPreferences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355848" y="3236976"/>
            <a:ext cx="2523744" cy="33832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38" name="Text 36"/>
          <p:cNvSpPr/>
          <p:nvPr/>
        </p:nvSpPr>
        <p:spPr>
          <a:xfrm>
            <a:off x="3429000" y="3236976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BiometricManager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355848" y="3630168"/>
            <a:ext cx="2523744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3429000" y="3630168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FileProvider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355848" y="4023360"/>
            <a:ext cx="2523744" cy="33832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42" name="Text 40"/>
          <p:cNvSpPr/>
          <p:nvPr/>
        </p:nvSpPr>
        <p:spPr>
          <a:xfrm>
            <a:off x="3429000" y="4023360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MPAndroidChart v3.1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89320" y="3017520"/>
            <a:ext cx="50292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52744" y="28346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7D32"/>
                </a:solidFill>
              </a:rPr>
              <a:t>↔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63640" y="114300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63640" y="1143000"/>
            <a:ext cx="2743200" cy="420624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47" name="Text 45"/>
          <p:cNvSpPr/>
          <p:nvPr/>
        </p:nvSpPr>
        <p:spPr>
          <a:xfrm>
            <a:off x="6336792" y="1143000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DATOS — SQLite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373368" y="1664208"/>
            <a:ext cx="2523744" cy="33832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49" name="Text 47"/>
          <p:cNvSpPr/>
          <p:nvPr/>
        </p:nvSpPr>
        <p:spPr>
          <a:xfrm>
            <a:off x="6446520" y="1664208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EcolimDbHelper (Singleton)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373368" y="2057400"/>
            <a:ext cx="2523744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6446520" y="2057400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usuarios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373368" y="2450592"/>
            <a:ext cx="2523744" cy="33832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3" name="Text 51"/>
          <p:cNvSpPr/>
          <p:nvPr/>
        </p:nvSpPr>
        <p:spPr>
          <a:xfrm>
            <a:off x="6446520" y="2450592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residuos (11 tipos)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373368" y="2843784"/>
            <a:ext cx="2523744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6446520" y="2843784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registros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373368" y="3236976"/>
            <a:ext cx="2523744" cy="33832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7" name="Text 55"/>
          <p:cNvSpPr/>
          <p:nvPr/>
        </p:nvSpPr>
        <p:spPr>
          <a:xfrm>
            <a:off x="6446520" y="3236976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Usuario.java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373368" y="3630168"/>
            <a:ext cx="2523744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6446520" y="3630168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Residuo.java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373368" y="4023360"/>
            <a:ext cx="2523744" cy="33832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61" name="Text 59"/>
          <p:cNvSpPr/>
          <p:nvPr/>
        </p:nvSpPr>
        <p:spPr>
          <a:xfrm>
            <a:off x="6446520" y="4023360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Registro.java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— Modelo Entidad-Relación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2286000" cy="2157984"/>
          </a:xfrm>
          <a:prstGeom prst="rect">
            <a:avLst/>
          </a:prstGeom>
          <a:solidFill>
            <a:srgbClr val="1A3B1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143000"/>
            <a:ext cx="2286000" cy="42062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1143000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USUARIOS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9456" y="1563624"/>
            <a:ext cx="2212848" cy="347472"/>
          </a:xfrm>
          <a:prstGeom prst="rect">
            <a:avLst/>
          </a:prstGeom>
          <a:solidFill>
            <a:srgbClr val="132B16"/>
          </a:solidFill>
          <a:ln/>
        </p:spPr>
      </p:sp>
      <p:sp>
        <p:nvSpPr>
          <p:cNvPr id="9" name="Shape 7"/>
          <p:cNvSpPr/>
          <p:nvPr/>
        </p:nvSpPr>
        <p:spPr>
          <a:xfrm>
            <a:off x="256032" y="1600200"/>
            <a:ext cx="274320" cy="219456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160020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F0E"/>
                </a:solidFill>
              </a:rPr>
              <a:t>PK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158191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INTEGER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" y="192938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· apellido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" y="2258568"/>
            <a:ext cx="2212848" cy="347472"/>
          </a:xfrm>
          <a:prstGeom prst="rect">
            <a:avLst/>
          </a:prstGeom>
          <a:solidFill>
            <a:srgbClr val="132B16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" y="227685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UNIQUE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" y="262432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· cargo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" y="2953512"/>
            <a:ext cx="2212848" cy="347472"/>
          </a:xfrm>
          <a:prstGeom prst="rect">
            <a:avLst/>
          </a:prstGeom>
          <a:solidFill>
            <a:srgbClr val="132B16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" y="297180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→ OPERARIO/ADMIN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29000" y="1143000"/>
            <a:ext cx="2286000" cy="2505456"/>
          </a:xfrm>
          <a:prstGeom prst="rect">
            <a:avLst/>
          </a:prstGeom>
          <a:solidFill>
            <a:srgbClr val="1A3B1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29000" y="1143000"/>
            <a:ext cx="2286000" cy="420624"/>
          </a:xfrm>
          <a:prstGeom prst="rect">
            <a:avLst/>
          </a:prstGeom>
          <a:solidFill>
            <a:srgbClr val="6D4C41"/>
          </a:solidFill>
          <a:ln/>
        </p:spPr>
      </p:sp>
      <p:sp>
        <p:nvSpPr>
          <p:cNvPr id="20" name="Text 18"/>
          <p:cNvSpPr/>
          <p:nvPr/>
        </p:nvSpPr>
        <p:spPr>
          <a:xfrm>
            <a:off x="3502152" y="1143000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REGISTROS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65576" y="1563624"/>
            <a:ext cx="2212848" cy="347472"/>
          </a:xfrm>
          <a:prstGeom prst="rect">
            <a:avLst/>
          </a:prstGeom>
          <a:solidFill>
            <a:srgbClr val="132B16"/>
          </a:solidFill>
          <a:ln/>
        </p:spPr>
      </p:sp>
      <p:sp>
        <p:nvSpPr>
          <p:cNvPr id="22" name="Shape 20"/>
          <p:cNvSpPr/>
          <p:nvPr/>
        </p:nvSpPr>
        <p:spPr>
          <a:xfrm>
            <a:off x="3502152" y="1600200"/>
            <a:ext cx="274320" cy="219456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23" name="Text 21"/>
          <p:cNvSpPr/>
          <p:nvPr/>
        </p:nvSpPr>
        <p:spPr>
          <a:xfrm>
            <a:off x="3502152" y="160020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F0E"/>
                </a:solidFill>
              </a:rPr>
              <a:t>PK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813048" y="158191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INTEGER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02152" y="1947672"/>
            <a:ext cx="274320" cy="219456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26" name="Text 24"/>
          <p:cNvSpPr/>
          <p:nvPr/>
        </p:nvSpPr>
        <p:spPr>
          <a:xfrm>
            <a:off x="3502152" y="194767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F0E"/>
                </a:solidFill>
              </a:rPr>
              <a:t>FK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813048" y="192938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usuario_id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65576" y="2258568"/>
            <a:ext cx="2212848" cy="347472"/>
          </a:xfrm>
          <a:prstGeom prst="rect">
            <a:avLst/>
          </a:prstGeom>
          <a:solidFill>
            <a:srgbClr val="132B16"/>
          </a:solidFill>
          <a:ln/>
        </p:spPr>
      </p:sp>
      <p:sp>
        <p:nvSpPr>
          <p:cNvPr id="29" name="Shape 27"/>
          <p:cNvSpPr/>
          <p:nvPr/>
        </p:nvSpPr>
        <p:spPr>
          <a:xfrm>
            <a:off x="3502152" y="2295144"/>
            <a:ext cx="274320" cy="219456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30" name="Text 28"/>
          <p:cNvSpPr/>
          <p:nvPr/>
        </p:nvSpPr>
        <p:spPr>
          <a:xfrm>
            <a:off x="3502152" y="229514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F0E"/>
                </a:solidFill>
              </a:rPr>
              <a:t>FK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813048" y="227685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residuo_id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538728" y="262432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cantidad_kg REAL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65576" y="2953512"/>
            <a:ext cx="2212848" cy="347472"/>
          </a:xfrm>
          <a:prstGeom prst="rect">
            <a:avLst/>
          </a:prstGeom>
          <a:solidFill>
            <a:srgbClr val="132B16"/>
          </a:solidFill>
          <a:ln/>
        </p:spPr>
      </p:sp>
      <p:sp>
        <p:nvSpPr>
          <p:cNvPr id="34" name="Text 32"/>
          <p:cNvSpPr/>
          <p:nvPr/>
        </p:nvSpPr>
        <p:spPr>
          <a:xfrm>
            <a:off x="3538728" y="297180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· fecha_hora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538728" y="331927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· sincronizado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675120" y="1143000"/>
            <a:ext cx="2286000" cy="2157984"/>
          </a:xfrm>
          <a:prstGeom prst="rect">
            <a:avLst/>
          </a:prstGeom>
          <a:solidFill>
            <a:srgbClr val="1A3B1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675120" y="1143000"/>
            <a:ext cx="2286000" cy="420624"/>
          </a:xfrm>
          <a:prstGeom prst="rect">
            <a:avLst/>
          </a:prstGeom>
          <a:solidFill>
            <a:srgbClr val="1E7B34"/>
          </a:solidFill>
          <a:ln/>
        </p:spPr>
      </p:sp>
      <p:sp>
        <p:nvSpPr>
          <p:cNvPr id="38" name="Text 36"/>
          <p:cNvSpPr/>
          <p:nvPr/>
        </p:nvSpPr>
        <p:spPr>
          <a:xfrm>
            <a:off x="6748272" y="1143000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 RESIDUOS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711696" y="1563624"/>
            <a:ext cx="2212848" cy="347472"/>
          </a:xfrm>
          <a:prstGeom prst="rect">
            <a:avLst/>
          </a:prstGeom>
          <a:solidFill>
            <a:srgbClr val="132B16"/>
          </a:solidFill>
          <a:ln/>
        </p:spPr>
      </p:sp>
      <p:sp>
        <p:nvSpPr>
          <p:cNvPr id="40" name="Shape 38"/>
          <p:cNvSpPr/>
          <p:nvPr/>
        </p:nvSpPr>
        <p:spPr>
          <a:xfrm>
            <a:off x="6748272" y="1600200"/>
            <a:ext cx="274320" cy="219456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41" name="Text 39"/>
          <p:cNvSpPr/>
          <p:nvPr/>
        </p:nvSpPr>
        <p:spPr>
          <a:xfrm>
            <a:off x="6748272" y="160020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F0E"/>
                </a:solidFill>
              </a:rPr>
              <a:t>PK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059168" y="158191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INTEGER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84848" y="192938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· tipo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711696" y="2258568"/>
            <a:ext cx="2212848" cy="347472"/>
          </a:xfrm>
          <a:prstGeom prst="rect">
            <a:avLst/>
          </a:prstGeom>
          <a:solidFill>
            <a:srgbClr val="132B16"/>
          </a:solidFill>
          <a:ln/>
        </p:spPr>
      </p:sp>
      <p:sp>
        <p:nvSpPr>
          <p:cNvPr id="45" name="Text 43"/>
          <p:cNvSpPr/>
          <p:nvPr/>
        </p:nvSpPr>
        <p:spPr>
          <a:xfrm>
            <a:off x="6784848" y="227685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color_codigo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84848" y="262432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peligroso 0/1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711696" y="2953512"/>
            <a:ext cx="2212848" cy="347472"/>
          </a:xfrm>
          <a:prstGeom prst="rect">
            <a:avLst/>
          </a:prstGeom>
          <a:solidFill>
            <a:srgbClr val="132B16"/>
          </a:solidFill>
          <a:ln/>
        </p:spPr>
      </p:sp>
      <p:sp>
        <p:nvSpPr>
          <p:cNvPr id="48" name="Text 46"/>
          <p:cNvSpPr/>
          <p:nvPr/>
        </p:nvSpPr>
        <p:spPr>
          <a:xfrm>
            <a:off x="6784848" y="297180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tipos NTP 900.058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468880" y="2194560"/>
            <a:ext cx="960120" cy="0"/>
          </a:xfrm>
          <a:prstGeom prst="line">
            <a:avLst/>
          </a:prstGeom>
          <a:noFill/>
          <a:ln w="25400">
            <a:solidFill>
              <a:srgbClr val="66BB6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15000" y="2194560"/>
            <a:ext cx="960120" cy="0"/>
          </a:xfrm>
          <a:prstGeom prst="line">
            <a:avLst/>
          </a:prstGeom>
          <a:noFill/>
          <a:ln w="25400">
            <a:solidFill>
              <a:srgbClr val="66BB6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50592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BB6A"/>
                </a:solidFill>
              </a:rPr>
              <a:t>1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15468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BB6A"/>
                </a:solidFill>
              </a:rPr>
              <a:t>N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687568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BB6A"/>
                </a:solidFill>
              </a:rPr>
              <a:t>N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382512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BB6A"/>
                </a:solidFill>
              </a:rPr>
              <a:t>1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182880" y="4389120"/>
            <a:ext cx="8778240" cy="47548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6" name="Text 54"/>
          <p:cNvSpPr/>
          <p:nvPr/>
        </p:nvSpPr>
        <p:spPr>
          <a:xfrm>
            <a:off x="182880" y="438912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EcolimDbHelper.java — Singleton · DATABASE_VERSION = 2 · onUpgrade() con migración segura · 11 residuos preinsertados al crear la BD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F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RESIDUOS — NTP 900.058-2019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170432"/>
            <a:ext cx="42976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8328" y="1280160"/>
            <a:ext cx="310896" cy="310896"/>
          </a:xfrm>
          <a:prstGeom prst="ellipse">
            <a:avLst/>
          </a:prstGeom>
          <a:solidFill>
            <a:srgbClr val="00308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7043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/ Cartón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792224"/>
            <a:ext cx="42976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" y="1901952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92224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Vidrio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" y="2414016"/>
            <a:ext cx="42976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" y="2523744"/>
            <a:ext cx="310896" cy="310896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14016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Plásticos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8600" y="3035808"/>
            <a:ext cx="42976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" y="3145536"/>
            <a:ext cx="310896" cy="310896"/>
          </a:xfrm>
          <a:prstGeom prst="ellipse">
            <a:avLst/>
          </a:prstGeom>
          <a:solidFill>
            <a:srgbClr val="79554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035808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Orgánicos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" y="3657600"/>
            <a:ext cx="42976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8328" y="3767328"/>
            <a:ext cx="310896" cy="310896"/>
          </a:xfrm>
          <a:prstGeom prst="ellipse">
            <a:avLst/>
          </a:prstGeom>
          <a:solidFill>
            <a:srgbClr val="607D8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65760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28600" y="4279392"/>
            <a:ext cx="42976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" y="4389120"/>
            <a:ext cx="310896" cy="310896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27939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1170432"/>
            <a:ext cx="42976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18888" y="1280160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0" y="117043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Peligrosos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01000" y="1261872"/>
            <a:ext cx="868680" cy="347472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27" name="Text 25"/>
          <p:cNvSpPr/>
          <p:nvPr/>
        </p:nvSpPr>
        <p:spPr>
          <a:xfrm>
            <a:off x="8001000" y="126187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PELIGROSO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09160" y="1792224"/>
            <a:ext cx="42976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18888" y="1901952"/>
            <a:ext cx="310896" cy="310896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0" y="1792224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Hospitalarios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001000" y="1883664"/>
            <a:ext cx="868680" cy="347472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2" name="Text 30"/>
          <p:cNvSpPr/>
          <p:nvPr/>
        </p:nvSpPr>
        <p:spPr>
          <a:xfrm>
            <a:off x="8001000" y="188366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PELIGROSO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09160" y="2414016"/>
            <a:ext cx="42976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18888" y="2523744"/>
            <a:ext cx="310896" cy="310896"/>
          </a:xfrm>
          <a:prstGeom prst="ellipse">
            <a:avLst/>
          </a:prstGeom>
          <a:solidFill>
            <a:srgbClr val="9E9E9E"/>
          </a:solidFill>
          <a:ln/>
        </p:spPr>
      </p:sp>
      <p:sp>
        <p:nvSpPr>
          <p:cNvPr id="35" name="Text 33"/>
          <p:cNvSpPr/>
          <p:nvPr/>
        </p:nvSpPr>
        <p:spPr>
          <a:xfrm>
            <a:off x="5212080" y="2414016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09160" y="3035808"/>
            <a:ext cx="42976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18888" y="3145536"/>
            <a:ext cx="310896" cy="310896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38" name="Text 36"/>
          <p:cNvSpPr/>
          <p:nvPr/>
        </p:nvSpPr>
        <p:spPr>
          <a:xfrm>
            <a:off x="5212080" y="3035808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RAEE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709160" y="3657600"/>
            <a:ext cx="42976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18888" y="3767328"/>
            <a:ext cx="310896" cy="310896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0" y="365760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28600" y="4681728"/>
            <a:ext cx="8686800" cy="3474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3" name="Text 41"/>
          <p:cNvSpPr/>
          <p:nvPr/>
        </p:nvSpPr>
        <p:spPr>
          <a:xfrm>
            <a:off x="228600" y="468172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via Spinner en RegistroFragment · Validación obligatoria · Color de contenedor según NTP · Alerta automática si tipo = Peligroso u Hospitalario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TEMAS DINÁMICO — 9 Temas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143000"/>
            <a:ext cx="1609344" cy="2286000"/>
          </a:xfrm>
          <a:prstGeom prst="rect">
            <a:avLst/>
          </a:prstGeom>
          <a:solidFill>
            <a:srgbClr val="1A3B1E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143000"/>
            <a:ext cx="1609344" cy="9144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" y="2057400"/>
            <a:ext cx="1609344" cy="9144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" y="1234440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CLARO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1168" y="1536192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#2E7D32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" y="2148840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OSCURO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" y="2450592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#1B5E20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" y="2971800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ECOLIM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93392" y="1143000"/>
            <a:ext cx="1609344" cy="2286000"/>
          </a:xfrm>
          <a:prstGeom prst="rect">
            <a:avLst/>
          </a:prstGeom>
          <a:solidFill>
            <a:srgbClr val="1A3B1E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93392" y="1143000"/>
            <a:ext cx="1609344" cy="914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Shape 13"/>
          <p:cNvSpPr/>
          <p:nvPr/>
        </p:nvSpPr>
        <p:spPr>
          <a:xfrm>
            <a:off x="1993392" y="2057400"/>
            <a:ext cx="1609344" cy="9144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6" name="Text 14"/>
          <p:cNvSpPr/>
          <p:nvPr/>
        </p:nvSpPr>
        <p:spPr>
          <a:xfrm>
            <a:off x="1993392" y="1234440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CLARO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93392" y="1536192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#1565C0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93392" y="2148840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OSCURO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93392" y="2450592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#0D47A1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93392" y="2971800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Corporativo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85616" y="1143000"/>
            <a:ext cx="1609344" cy="2286000"/>
          </a:xfrm>
          <a:prstGeom prst="rect">
            <a:avLst/>
          </a:prstGeom>
          <a:solidFill>
            <a:srgbClr val="1A3B1E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85616" y="1143000"/>
            <a:ext cx="1609344" cy="9144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3" name="Shape 21"/>
          <p:cNvSpPr/>
          <p:nvPr/>
        </p:nvSpPr>
        <p:spPr>
          <a:xfrm>
            <a:off x="3785616" y="2057400"/>
            <a:ext cx="1609344" cy="914400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24" name="Text 22"/>
          <p:cNvSpPr/>
          <p:nvPr/>
        </p:nvSpPr>
        <p:spPr>
          <a:xfrm>
            <a:off x="3785616" y="1234440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CLARO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85616" y="1536192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#E65100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85616" y="2148840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OSCURO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85616" y="2450592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#BF360C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85616" y="2971800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Naranja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Energético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77840" y="1143000"/>
            <a:ext cx="1609344" cy="2286000"/>
          </a:xfrm>
          <a:prstGeom prst="rect">
            <a:avLst/>
          </a:prstGeom>
          <a:solidFill>
            <a:srgbClr val="1A3B1E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77840" y="1143000"/>
            <a:ext cx="1609344" cy="9144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31" name="Shape 29"/>
          <p:cNvSpPr/>
          <p:nvPr/>
        </p:nvSpPr>
        <p:spPr>
          <a:xfrm>
            <a:off x="5577840" y="2057400"/>
            <a:ext cx="1609344" cy="914400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32" name="Text 30"/>
          <p:cNvSpPr/>
          <p:nvPr/>
        </p:nvSpPr>
        <p:spPr>
          <a:xfrm>
            <a:off x="5577840" y="1234440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CLARO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77840" y="1536192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#455A64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77840" y="2148840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OSCURO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77840" y="2450592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#263238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77840" y="2971800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370064" y="1143000"/>
            <a:ext cx="1609344" cy="2286000"/>
          </a:xfrm>
          <a:prstGeom prst="rect">
            <a:avLst/>
          </a:prstGeom>
          <a:solidFill>
            <a:srgbClr val="1A3B1E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370064" y="1143000"/>
            <a:ext cx="1609344" cy="9144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9" name="Shape 37"/>
          <p:cNvSpPr/>
          <p:nvPr/>
        </p:nvSpPr>
        <p:spPr>
          <a:xfrm>
            <a:off x="7370064" y="2057400"/>
            <a:ext cx="1609344" cy="9144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40" name="Text 38"/>
          <p:cNvSpPr/>
          <p:nvPr/>
        </p:nvSpPr>
        <p:spPr>
          <a:xfrm>
            <a:off x="7370064" y="1234440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CLARO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70064" y="1536192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#111111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70064" y="2148840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OSCURO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70064" y="2450592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#FFFF00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370064" y="2971800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7432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CAMBIO DE TEMA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01168" y="3931920"/>
            <a:ext cx="1335024" cy="91440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46888" y="3931920"/>
            <a:ext cx="1243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ConfiguracionFragment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536192" y="42062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BB6A"/>
                </a:solidFill>
              </a:rPr>
              <a:t>→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700784" y="3931920"/>
            <a:ext cx="1335024" cy="91440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746504" y="3931920"/>
            <a:ext cx="1243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ThemeManager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.set…()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035808" y="42062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BB6A"/>
                </a:solidFill>
              </a:rPr>
              <a:t>→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200400" y="3931920"/>
            <a:ext cx="1335024" cy="91440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3246120" y="3931920"/>
            <a:ext cx="1243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SharedPreferences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35424" y="42062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BB6A"/>
                </a:solidFill>
              </a:rPr>
              <a:t>→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700016" y="3931920"/>
            <a:ext cx="1335024" cy="914400"/>
          </a:xfrm>
          <a:prstGeom prst="rect">
            <a:avLst/>
          </a:prstGeom>
          <a:solidFill>
            <a:srgbClr val="FFA726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745736" y="3931920"/>
            <a:ext cx="1243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035040" y="42062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BB6A"/>
                </a:solidFill>
              </a:rPr>
              <a:t>→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199632" y="3931920"/>
            <a:ext cx="1335024" cy="914400"/>
          </a:xfrm>
          <a:prstGeom prst="rect">
            <a:avLst/>
          </a:prstGeom>
          <a:solidFill>
            <a:srgbClr val="42A5F5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6245352" y="3931920"/>
            <a:ext cx="1243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BaseActivity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setTheme()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super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534656" y="42062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BB6A"/>
                </a:solidFill>
              </a:rPr>
              <a:t>→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699248" y="3931920"/>
            <a:ext cx="1335024" cy="914400"/>
          </a:xfrm>
          <a:prstGeom prst="rect">
            <a:avLst/>
          </a:prstGeom>
          <a:solidFill>
            <a:srgbClr val="1E7B34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7744968" y="3931920"/>
            <a:ext cx="1243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Toda la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actualizada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F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REPORTES AUTOMÁTICOS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2651760" cy="457200"/>
          </a:xfrm>
          <a:prstGeom prst="rect">
            <a:avLst/>
          </a:prstGeom>
          <a:solidFill>
            <a:srgbClr val="217346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143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📗 Excel .xlsx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2608" y="1691640"/>
            <a:ext cx="2523744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69164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1: Registros completos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" y="2130552"/>
            <a:ext cx="252374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2130552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2: Resumen por tipo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" y="2569464"/>
            <a:ext cx="2523744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2569464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3: Totales y estadísticas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" y="3008376"/>
            <a:ext cx="252374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3008376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Apache POI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" y="3447288"/>
            <a:ext cx="2523744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344728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ZipOutputStream + XML nativo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608" y="3886200"/>
            <a:ext cx="252374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388620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Excel 2007+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114300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1143000"/>
            <a:ext cx="2651760" cy="45720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1143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📕 PDF Nativo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310128" y="1691640"/>
            <a:ext cx="2523744" cy="36576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24" name="Text 22"/>
          <p:cNvSpPr/>
          <p:nvPr/>
        </p:nvSpPr>
        <p:spPr>
          <a:xfrm>
            <a:off x="3401568" y="169164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PdfDocument Android nativo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10128" y="2130552"/>
            <a:ext cx="252374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401568" y="2130552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A4 (595 × 842 pt)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10128" y="2569464"/>
            <a:ext cx="2523744" cy="36576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28" name="Text 26"/>
          <p:cNvSpPr/>
          <p:nvPr/>
        </p:nvSpPr>
        <p:spPr>
          <a:xfrm>
            <a:off x="3401568" y="2569464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Encabezado con logo ECOLIM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10128" y="3008376"/>
            <a:ext cx="252374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401568" y="3008376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registros coloreada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10128" y="3447288"/>
            <a:ext cx="2523744" cy="36576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32" name="Text 30"/>
          <p:cNvSpPr/>
          <p:nvPr/>
        </p:nvSpPr>
        <p:spPr>
          <a:xfrm>
            <a:off x="3401568" y="344728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 por tipo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10128" y="3886200"/>
            <a:ext cx="252374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401568" y="388620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librerías externas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114300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63640" y="1143000"/>
            <a:ext cx="265176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7" name="Text 35"/>
          <p:cNvSpPr/>
          <p:nvPr/>
        </p:nvSpPr>
        <p:spPr>
          <a:xfrm>
            <a:off x="6263640" y="1143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📤 Compartir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327648" y="1691640"/>
            <a:ext cx="2523744" cy="36576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169164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Email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27648" y="2130552"/>
            <a:ext cx="252374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2130552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WhatsApp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27648" y="2569464"/>
            <a:ext cx="2523744" cy="36576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0" y="2569464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Google Drive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27648" y="3008376"/>
            <a:ext cx="252374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0" y="3008376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FileProvider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327648" y="3447288"/>
            <a:ext cx="2523744" cy="36576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0" y="344728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Compartir seguro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327648" y="3886200"/>
            <a:ext cx="252374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6400800" y="388620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Filtro por fechas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1" name="Text 49"/>
          <p:cNvSpPr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Filtros disponibles: Rango de fechas · Tipo de residuo · Área · Operario responsable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— Manual vs App ECOLIM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011680" cy="2560320"/>
          </a:xfrm>
          <a:prstGeom prst="rect">
            <a:avLst/>
          </a:prstGeom>
          <a:solidFill>
            <a:srgbClr val="1A3B1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8328" y="1234440"/>
            <a:ext cx="1792224" cy="502920"/>
          </a:xfrm>
          <a:prstGeom prst="rect">
            <a:avLst/>
          </a:prstGeom>
          <a:solidFill>
            <a:srgbClr val="2A0A0A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123444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5–8 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BB6A"/>
                </a:solidFill>
              </a:rPr>
              <a:t>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8328" y="2057400"/>
            <a:ext cx="1792224" cy="5029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" y="20574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AHORA: 30 seg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" y="25786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-85%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28600" y="30906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por registro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41448" y="1143000"/>
            <a:ext cx="2011680" cy="2560320"/>
          </a:xfrm>
          <a:prstGeom prst="rect">
            <a:avLst/>
          </a:prstGeom>
          <a:solidFill>
            <a:srgbClr val="1A3B1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51176" y="1234440"/>
            <a:ext cx="1792224" cy="502920"/>
          </a:xfrm>
          <a:prstGeom prst="rect">
            <a:avLst/>
          </a:prstGeom>
          <a:solidFill>
            <a:srgbClr val="2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2551176" y="123444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2.5 h/día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41448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BB6A"/>
                </a:solidFill>
              </a:rPr>
              <a:t>↓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551176" y="2057400"/>
            <a:ext cx="1792224" cy="5029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8" name="Text 16"/>
          <p:cNvSpPr/>
          <p:nvPr/>
        </p:nvSpPr>
        <p:spPr>
          <a:xfrm>
            <a:off x="2551176" y="20574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AHORA: 0 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41448" y="25786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-100%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441448" y="30906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Consolidación diaria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54296" y="1143000"/>
            <a:ext cx="2011680" cy="2560320"/>
          </a:xfrm>
          <a:prstGeom prst="rect">
            <a:avLst/>
          </a:prstGeom>
          <a:solidFill>
            <a:srgbClr val="1A3B1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64024" y="1234440"/>
            <a:ext cx="1792224" cy="502920"/>
          </a:xfrm>
          <a:prstGeom prst="rect">
            <a:avLst/>
          </a:prstGeom>
          <a:solidFill>
            <a:srgbClr val="2A0A0A"/>
          </a:solidFill>
          <a:ln/>
        </p:spPr>
      </p:sp>
      <p:sp>
        <p:nvSpPr>
          <p:cNvPr id="23" name="Text 21"/>
          <p:cNvSpPr/>
          <p:nvPr/>
        </p:nvSpPr>
        <p:spPr>
          <a:xfrm>
            <a:off x="4764024" y="123444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30% error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54296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BB6A"/>
                </a:solidFill>
              </a:rPr>
              <a:t>↓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764024" y="2057400"/>
            <a:ext cx="1792224" cy="5029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4024" y="20574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AHORA: &lt;2%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54296" y="25786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-95%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654296" y="30906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error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67144" y="1143000"/>
            <a:ext cx="2011680" cy="2560320"/>
          </a:xfrm>
          <a:prstGeom prst="rect">
            <a:avLst/>
          </a:prstGeom>
          <a:solidFill>
            <a:srgbClr val="1A3B1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76872" y="1234440"/>
            <a:ext cx="1792224" cy="502920"/>
          </a:xfrm>
          <a:prstGeom prst="rect">
            <a:avLst/>
          </a:prstGeom>
          <a:solidFill>
            <a:srgbClr val="2A0A0A"/>
          </a:solidFill>
          <a:ln/>
        </p:spPr>
      </p:sp>
      <p:sp>
        <p:nvSpPr>
          <p:cNvPr id="31" name="Text 29"/>
          <p:cNvSpPr/>
          <p:nvPr/>
        </p:nvSpPr>
        <p:spPr>
          <a:xfrm>
            <a:off x="6976872" y="123444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4 horas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67144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BB6A"/>
                </a:solidFill>
              </a:rPr>
              <a:t>↓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976872" y="2057400"/>
            <a:ext cx="1792224" cy="5029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4" name="Text 32"/>
          <p:cNvSpPr/>
          <p:nvPr/>
        </p:nvSpPr>
        <p:spPr>
          <a:xfrm>
            <a:off x="6976872" y="20574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AHORA: &lt;30 seg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67144" y="25786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-99%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867144" y="30906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reporte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8600" y="3767328"/>
            <a:ext cx="8686800" cy="2926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37673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INDICADOR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017520" y="37673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MANUAL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77840" y="376732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 ECOLIM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28600" y="4059936"/>
            <a:ext cx="8686800" cy="274320"/>
          </a:xfrm>
          <a:prstGeom prst="rect">
            <a:avLst/>
          </a:prstGeom>
          <a:solidFill>
            <a:srgbClr val="132B16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0599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por operario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017520" y="40599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77840" y="40599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(usuario_id)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" y="4334256"/>
            <a:ext cx="8686800" cy="274320"/>
          </a:xfrm>
          <a:prstGeom prst="rect">
            <a:avLst/>
          </a:prstGeom>
          <a:solidFill>
            <a:srgbClr val="1A3B1E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43342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NTP 900.058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017520" y="43342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77840" y="433425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Garantizado (11 tipos)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28600" y="4608576"/>
            <a:ext cx="8686800" cy="274320"/>
          </a:xfrm>
          <a:prstGeom prst="rect">
            <a:avLst/>
          </a:prstGeom>
          <a:solidFill>
            <a:srgbClr val="132B16"/>
          </a:solidFill>
          <a:ln/>
        </p:spPr>
      </p:sp>
      <p:sp>
        <p:nvSpPr>
          <p:cNvPr id="50" name="Text 48"/>
          <p:cNvSpPr/>
          <p:nvPr/>
        </p:nvSpPr>
        <p:spPr>
          <a:xfrm>
            <a:off x="274320" y="46085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sin internet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017520" y="46085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(papel)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77840" y="460857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(SQLite offline)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8600" y="4882896"/>
            <a:ext cx="8686800" cy="274320"/>
          </a:xfrm>
          <a:prstGeom prst="rect">
            <a:avLst/>
          </a:prstGeom>
          <a:solidFill>
            <a:srgbClr val="1A3B1E"/>
          </a:solidFill>
          <a:ln/>
        </p:spPr>
      </p:sp>
      <p:sp>
        <p:nvSpPr>
          <p:cNvPr id="54" name="Text 52"/>
          <p:cNvSpPr/>
          <p:nvPr/>
        </p:nvSpPr>
        <p:spPr>
          <a:xfrm>
            <a:off x="274320" y="48828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operativo anual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017520" y="48828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8,400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577840" y="48828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1,200  (-86%)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B5E20">
              <a:alpha val="35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004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3657600" cy="3657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43000"/>
            <a:ext cx="6217920" cy="530352"/>
          </a:xfrm>
          <a:prstGeom prst="rect">
            <a:avLst/>
          </a:prstGeom>
          <a:solidFill>
            <a:srgbClr val="1A3B1E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143000"/>
            <a:ext cx="54864" cy="5303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43000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BB6A"/>
                </a:solidFill>
              </a:rPr>
              <a:t>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143000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digitaliza el 100% del proceso de registro de residuos sólidos de ECOLIM S.A.C.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737360"/>
            <a:ext cx="6217920" cy="530352"/>
          </a:xfrm>
          <a:prstGeom prst="rect">
            <a:avLst/>
          </a:prstGeom>
          <a:solidFill>
            <a:srgbClr val="132B16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1737360"/>
            <a:ext cx="54864" cy="5303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737360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BB6A"/>
                </a:solidFill>
              </a:rPr>
              <a:t>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737360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garantizado de NTP 900.058-2019 con validación en cada registro.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331720"/>
            <a:ext cx="6217920" cy="530352"/>
          </a:xfrm>
          <a:prstGeom prst="rect">
            <a:avLst/>
          </a:prstGeom>
          <a:solidFill>
            <a:srgbClr val="1A3B1E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2331720"/>
            <a:ext cx="54864" cy="5303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331720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BB6A"/>
                </a:solidFill>
              </a:rPr>
              <a:t>✔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331720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del tiempo de trabajo administrativo de 2.5 horas/día a minutos.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2926080"/>
            <a:ext cx="6217920" cy="530352"/>
          </a:xfrm>
          <a:prstGeom prst="rect">
            <a:avLst/>
          </a:prstGeom>
          <a:solidFill>
            <a:srgbClr val="132B16"/>
          </a:solidFill>
          <a:ln/>
        </p:spPr>
      </p:sp>
      <p:sp>
        <p:nvSpPr>
          <p:cNvPr id="19" name="Shape 17"/>
          <p:cNvSpPr/>
          <p:nvPr/>
        </p:nvSpPr>
        <p:spPr>
          <a:xfrm>
            <a:off x="411480" y="2926080"/>
            <a:ext cx="54864" cy="5303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926080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BB6A"/>
                </a:solidFill>
              </a:rPr>
              <a:t>✔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2926080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Excel y PDF generados automáticamente, listos para autoridades ambientales.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520440"/>
            <a:ext cx="6217920" cy="530352"/>
          </a:xfrm>
          <a:prstGeom prst="rect">
            <a:avLst/>
          </a:prstGeom>
          <a:solidFill>
            <a:srgbClr val="1A3B1E"/>
          </a:solidFill>
          <a:ln/>
        </p:spPr>
      </p:sp>
      <p:sp>
        <p:nvSpPr>
          <p:cNvPr id="23" name="Shape 21"/>
          <p:cNvSpPr/>
          <p:nvPr/>
        </p:nvSpPr>
        <p:spPr>
          <a:xfrm>
            <a:off x="411480" y="3520440"/>
            <a:ext cx="54864" cy="5303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520440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BB6A"/>
                </a:solidFill>
              </a:rPr>
              <a:t>✔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3520440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Funcionamiento 100% offline con SQLite — ideal para instalaciones sin señal.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4114800"/>
            <a:ext cx="6217920" cy="530352"/>
          </a:xfrm>
          <a:prstGeom prst="rect">
            <a:avLst/>
          </a:prstGeom>
          <a:solidFill>
            <a:srgbClr val="132B16"/>
          </a:solidFill>
          <a:ln/>
        </p:spPr>
      </p:sp>
      <p:sp>
        <p:nvSpPr>
          <p:cNvPr id="27" name="Shape 25"/>
          <p:cNvSpPr/>
          <p:nvPr/>
        </p:nvSpPr>
        <p:spPr>
          <a:xfrm>
            <a:off x="411480" y="4114800"/>
            <a:ext cx="54864" cy="5303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114800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BB6A"/>
                </a:solidFill>
              </a:rPr>
              <a:t>✔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0120" y="4114800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temas accesible: modo oscuro, alto contraste y fuente ajustable.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1480" y="4709160"/>
            <a:ext cx="6217920" cy="3200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47091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ECOLIM APP — Android Studio · Java · SQLite · NTP 900.058 · SENATI PIAD-525 ·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ECOLIM — Aplicativo Móvil</dc:title>
  <dc:subject>PptxGenJS Presentation</dc:subject>
  <dc:creator>PptxGenJS</dc:creator>
  <cp:lastModifiedBy>PptxGenJS</cp:lastModifiedBy>
  <cp:revision>1</cp:revision>
  <dcterms:created xsi:type="dcterms:W3CDTF">2026-03-12T14:19:59Z</dcterms:created>
  <dcterms:modified xsi:type="dcterms:W3CDTF">2026-03-12T14:19:59Z</dcterms:modified>
</cp:coreProperties>
</file>